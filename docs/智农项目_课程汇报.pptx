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34840"/>
            <a:ext cx="9144000" cy="109728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智农 · 农作物病虫害 AI 智能识别与预警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课程汇报：从数据到模型到结果的机器学习实践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5F5F0"/>
                </a:solidFill>
                <a:latin typeface="微软雅黑" panose="020B0503020204020204" charset="-122"/>
              </a:defRPr>
            </a:pPr>
            <a:r>
              <a:t>多任务深度学习 · PlantVillage · Flask Web 部署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汇报思路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符合课程要求：数据 → 模型 → 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① 数据：来源、收集、清洗、增强、训练/验证划分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② 模型：多任务学习思想、网络结构、损失与训练流程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③ 调优：迁移学习、早停、学习率与类别不平衡处理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④ 结果：Accuracy / F1 / Macro-F1 等定量指标与系统演示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⑤ 拓展：Grad-CAM 可解释性、MC Dropout 不确定性、防治知识库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1. 项目背景与问题定义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农业场景：农户上传叶片照片，需要快速判断「是什么病、有多严重、风险多高」。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传统方式依赖专家经验，响应慢、成本高，难以覆盖 60+ 常见作物病害。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机器学习任务：图像分类 + 多任务联合（病害类别 + 严重程度 + 风险评分）。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项目目标：端到端系统 — 数据训练 → 模型推理 → Web 交互 → 可执行防治方案。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2. 数据介绍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公开数据集与项目自建流程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8138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主数据集：PlantVillage — 按「作物_病害」文件夹组织，约 61 类叶片图像。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演示/快速验证：scripts/generate_mock_dataset.py 生成小规模多类样本。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Kaggle 流程：prepare_kaggle_dataset.py 切分为 train/val，便于客户演示。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输入规格：RGB 图像，推理时统一 resize 至 128×128（与训练一致）。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标签体系：病害 class_id；严重程度由类别名/规则映射为 健康 / 一般 / 严重。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977639"/>
            <a:ext cx="1828800" cy="868680"/>
          </a:xfrm>
          <a:prstGeom prst="roundRect">
            <a:avLst/>
          </a:prstGeom>
          <a:solidFill>
            <a:srgbClr val="97BC6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114800"/>
            <a:ext cx="1645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61</a:t>
            </a:r>
          </a:p>
          <a:p>
            <a:pPr algn="ctr">
              <a:defRPr sz="11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模型类别（PlantVillage）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3977639"/>
            <a:ext cx="1828800" cy="868680"/>
          </a:xfrm>
          <a:prstGeom prst="roundRect">
            <a:avLst/>
          </a:prstGeom>
          <a:solidFill>
            <a:srgbClr val="97BC6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114800"/>
            <a:ext cx="1645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60+</a:t>
            </a:r>
          </a:p>
          <a:p>
            <a:pPr algn="ctr">
              <a:defRPr sz="11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防治知识库条目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977639"/>
            <a:ext cx="1828800" cy="868680"/>
          </a:xfrm>
          <a:prstGeom prst="roundRect">
            <a:avLst/>
          </a:prstGeom>
          <a:solidFill>
            <a:srgbClr val="97BC6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4114800"/>
            <a:ext cx="16459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128²</a:t>
            </a:r>
          </a:p>
          <a:p>
            <a:pPr algn="ctr">
              <a:defRPr sz="11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输入分辨率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977639"/>
            <a:ext cx="2103120" cy="868680"/>
          </a:xfrm>
          <a:prstGeom prst="roundRect">
            <a:avLst/>
          </a:prstGeom>
          <a:solidFill>
            <a:srgbClr val="97BC6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114800"/>
            <a:ext cx="1920239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train/val</a:t>
            </a:r>
          </a:p>
          <a:p>
            <a:pPr algn="ctr">
              <a:defRPr sz="11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标准划分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3. 数据收集、处理与划分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收集：ImageFolder / TXT 标注双模式；build_image_index 建立文件名索引。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清洗：文件签名检测、拒绝非图片；损坏样本返回占位图避免训练中断。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增强（训练集）：RandomResizedCrop、水平翻转、ColorJitter、Normalize（ImageNet 统计量）。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划分：公开集按 train/val 目录；可 sample_ratio 子采样做快速实验。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类别映射：disease_mapping 将文件夹名映射为整数标签，保存至 best_multitask_model.json。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4. 机器学习方法概述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为什么选择多任务学习？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单任务：仅预测病害 OR 仅预测严重程度 — 两个独立模型，部署与维护成本高。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多任务学习（MTL）：共享 MobileNetV2 骨干，联合优化病害头 + 严重程度头。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优势：相关任务共享表征，通常提升小样本类泛化；一次前向得到多维度决策。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项目还实现 SingleTaskDiseaseModel / SingleTaskSeverityModel 用于对比实验。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推理阶段：softmax 得类别与严重度 → 规则/模型融合得 risk_score（0–100）。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5. 模型结构设计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8138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Backbone：MobileNetV2（ImageNet 预训练），轻量、适合 CPU/边缘部署。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迁移学习：冻结 features 除最后 3 层，减少过拟合与训练时间。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CrossTaskAttention：对 1280 维共享特征做病害/严重度双路注意力，输出 256 维。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双头输出：disease_head → num_diseases；severity_head → 3 类。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可解释：保留 feature_extractor 输出，支持 Grad-CAM 热力图（train_severity_gradcam.py）。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77639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B85042"/>
                </a:solidFill>
                <a:latin typeface="微软雅黑" panose="020B0503020204020204" charset="-122"/>
              </a:defRPr>
            </a:pPr>
            <a:r>
              <a:t>数据流：图像 → MobileNetV2 → GAP → CrossTaskAttention → [病害 logits | 严重度 logits]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6. 模型训练与损失设计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优化器：Adam；损失：CrossEntropyLoss（病害 + 严重度加权求和）。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Trainer：TaskTrainer 统一 multitask / 单任务训练循环，保证对比公平。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命令示例：python train_multitask_model.py --dataset-mode plantvillage --epochs 15 --patience 5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模拟数据快速验证：--data-dir data/mock_problem_b --epochs 5 --patience 2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产出：best_multitask_model.pth + JSON（class_names、输入尺寸、指标记录）。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7. 调参与实验策略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早停（Early Stopping）：验证集指标不再提升时停止，patience 可配置。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Dropout 0.3/0.2：缓解过拟合，尤其类内样本不均衡时。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MC Dropout（推理可选）：多次前向采样估计预测不确定性，低置信度提示人工复核。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类别不平衡：Macro-F1 关注少数类；可结合加权 CE 或重采样（实验扩展）。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超参：batch size、学习率、sample_ratio 用于课堂/演示的快速迭代。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8. 定量精度分析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7BC62"/>
                </a:solidFill>
                <a:latin typeface="微软雅黑" panose="020B0503020204020204" charset="-122"/>
              </a:defRPr>
            </a:pPr>
            <a:r>
              <a:t>sklearn.metrics + 验证集评估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病害分类：Accuracy（整体正确率）、Weighted F1（按样本量加权）。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严重程度：Macro-F1（三类等权，关注「严重」漏检成本）。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训练脚本在验证阶段输出 disease_acc、f1、severity macro-f1，并写入日志/JSON。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业务指标：风险分档（低/中/高）、与防治 urgency 联动，形成可执行建议。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说明：最终数值取决于数据规模与 epoch；完整 PlantVillage 训练通常 Acc 可达较高水平（需本地复现实验填表）。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3611880"/>
          <a:ext cx="81381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540"/>
                <a:gridCol w="2034540"/>
                <a:gridCol w="2034540"/>
                <a:gridCol w="2034540"/>
              </a:tblGrid>
              <a:tr h="30861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适用任务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备注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预测正确比例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病害分类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直观、易汇报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Weighted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精确率召回率调和平均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病害分类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适合不均衡</a:t>
                      </a:r>
                    </a:p>
                  </a:txBody>
                  <a:tcPr/>
                </a:tc>
              </a:tr>
              <a:tr h="30861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各类 F1 算术平均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严重度 3 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重视少数类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9. 实验结果与系统落地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离线：混淆矩阵、训练曲线（train_multitask_model.py 可视化模块）。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在线：Flask app.py — 上传/URL/批量预测、JSON·PDF 报告、ECharts 风险趋势。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知识库：60+ 病害防治方案（症状、用药、复查时间线），与识别结果自动匹配。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演示模式：无模型亦可展示 demo_case + 7 条历史报告，适合答辩与客户展示。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扩展：disease_multitask.pth 切换环境变量 MODEL_PATH 即可对比不同 checkpoint。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10. 端到端流程回顾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25880"/>
            <a:ext cx="1600200" cy="1234440"/>
          </a:xfrm>
          <a:prstGeom prst="roundRect">
            <a:avLst/>
          </a:prstGeom>
          <a:solidFill>
            <a:srgbClr val="97BC6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14173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1</a:t>
            </a:r>
          </a:p>
          <a:p>
            <a:pPr algn="ctr">
              <a:defRPr sz="11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2697480"/>
            <a:ext cx="1463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PlantVillage / Kaggle / Mock</a:t>
            </a:r>
            <a:br/>
            <a:r>
              <a:t>增强 + train/val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21408" y="1325880"/>
            <a:ext cx="1600200" cy="1234440"/>
          </a:xfrm>
          <a:prstGeom prst="roundRect">
            <a:avLst/>
          </a:prstGeom>
          <a:solidFill>
            <a:srgbClr val="E7E8D1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12848" y="1463039"/>
            <a:ext cx="14173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2</a:t>
            </a:r>
          </a:p>
          <a:p>
            <a:pPr algn="ctr">
              <a:defRPr sz="11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697480"/>
            <a:ext cx="1463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MobileNetV2 + MTL</a:t>
            </a:r>
            <a:br/>
            <a:r>
              <a:t>CrossTaskAttention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77056" y="1325880"/>
            <a:ext cx="1600200" cy="1234440"/>
          </a:xfrm>
          <a:prstGeom prst="roundRect">
            <a:avLst/>
          </a:prstGeom>
          <a:solidFill>
            <a:srgbClr val="97BC6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8496" y="1463039"/>
            <a:ext cx="14173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3</a:t>
            </a:r>
          </a:p>
          <a:p>
            <a:pPr algn="ctr">
              <a:defRPr sz="11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训练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2697480"/>
            <a:ext cx="1463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CE Loss + Adam</a:t>
            </a:r>
            <a:br/>
            <a:r>
              <a:t>早停 + 迁移学习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32704" y="1325880"/>
            <a:ext cx="1600200" cy="1234440"/>
          </a:xfrm>
          <a:prstGeom prst="roundRect">
            <a:avLst/>
          </a:prstGeom>
          <a:solidFill>
            <a:srgbClr val="E7E8D1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24144" y="1463039"/>
            <a:ext cx="14173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4</a:t>
            </a:r>
          </a:p>
          <a:p>
            <a:pPr algn="ctr">
              <a:defRPr sz="11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评估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5856" y="2697480"/>
            <a:ext cx="1463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Acc / F1 / Macro-F1</a:t>
            </a:r>
            <a:br/>
            <a:r>
              <a:t>混淆矩阵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1325880"/>
            <a:ext cx="1600200" cy="1234440"/>
          </a:xfrm>
          <a:prstGeom prst="roundRect">
            <a:avLst/>
          </a:prstGeom>
          <a:solidFill>
            <a:srgbClr val="97BC62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1463039"/>
            <a:ext cx="14173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2C5F2D"/>
                </a:solidFill>
                <a:latin typeface="微软雅黑" panose="020B0503020204020204" charset="-122"/>
              </a:defRPr>
            </a:pPr>
            <a:r>
              <a:t>5</a:t>
            </a:r>
          </a:p>
          <a:p>
            <a:pPr algn="ctr">
              <a:defRPr sz="11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1504" y="2697480"/>
            <a:ext cx="1463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Flask + 知识库</a:t>
            </a:r>
            <a:br/>
            <a:r>
              <a:t>Grad-CAM / MC Dropout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6052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汇报结论：本项目完整走通「数据准备 → 模型设计训练 → 定量评估 → 工程化演示」机器学习闭环。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11.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总结：多任务 CNN 在农业病害场景可同时输出类别与严重度，并结合规则生成风险与防治方案。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不足：田间光照/遮挡与实验室数据集存在域差异；需持续收集本地数据微调。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展望：更强骨干（EfficientNet/ViT）、半监督学习、移动端 ONNX 部署、与农技平台对接。</a:t>
            </a:r>
          </a:p>
          <a:p>
            <a:pPr>
              <a:spcAft>
                <a:spcPts val="800"/>
              </a:spcAft>
              <a:defRPr sz="1600">
                <a:solidFill>
                  <a:srgbClr val="1A2E1A"/>
                </a:solidFill>
                <a:latin typeface="微软雅黑" panose="020B0503020204020204" charset="-122"/>
              </a:defRPr>
            </a:pPr>
            <a:r>
              <a:t>课程关联：监督学习、卷积神经网络、迁移学习、多任务学习、模型评估与工程部署。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谢谢老师与同学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3173</Words>
  <Application>WPS 演示</Application>
  <PresentationFormat>On-screen Show (4:3)</PresentationFormat>
  <Paragraphs>177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杨子烽</cp:lastModifiedBy>
  <cp:revision>2</cp:revision>
  <dcterms:created xsi:type="dcterms:W3CDTF">2013-01-27T09:14:00Z</dcterms:created>
  <dcterms:modified xsi:type="dcterms:W3CDTF">2026-06-20T06:03:08Z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AC87EB70F5ED436789FA1129178F505F_12</vt:lpwstr>
  </property>
  <property fmtid="{D5CDD505-2E9C-101B-9397-08002B2CF9AE}" pid="3" name="KSOProductBuildVer">
    <vt:lpwstr>2052-12.1.0.23542</vt:lpwstr>
  </property>
</Properties>
</file>