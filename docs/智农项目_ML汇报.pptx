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基于多任务深度学习的</a:t>
            </a:r>
            <a:br/>
            <a:r>
              <a:t>农作物病害风险智能评估系统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7BC62"/>
                </a:solidFill>
                <a:latin typeface="Microsoft YaHei"/>
              </a:defRPr>
            </a:pPr>
            <a:r>
              <a:t>一张图片同时完成病害识别、严重度分级与风险评估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0"/>
                </a:solidFill>
                <a:latin typeface="Microsoft YaHei"/>
              </a:defRPr>
            </a:pPr>
            <a:r>
              <a:t>姓名：______  班级：______  日期：______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65760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C080"/>
                </a:solidFill>
                <a:latin typeface="Microsoft YaHei"/>
              </a:defRPr>
            </a:pPr>
            <a:r>
              <a:t>MobileNetV2 · CrossTaskAttention · PlantVillage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  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Microsoft YaHei"/>
              </a:defRPr>
            </a:pPr>
            <a:r>
              <a:t>数据 → 模型 → 结果 — 机器学习全链路实践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618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618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一、 数据集介绍与数据收集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12618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2618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二、 数据预处理与数据集划分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9476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9476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三、 多任务深度学习模型架构设计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874519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9476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9476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四、 模型训练策略与调优过程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560320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6334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334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五、 定量实验结果与精度分析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560320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26334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334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六、 重点类别性能与错误分析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3192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3192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七、 Grad-CAM 可解释性分析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3246120"/>
            <a:ext cx="4572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3319272"/>
            <a:ext cx="420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31927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八、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一、  数据集介绍与数据收集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▎数据来源：PlantVillage 公开数据集（机器学习图像分类基准数据集）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54,306 张叶片图像，覆盖 61 类作物病害（含健康叶片）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包含苹果、玉米、番茄、马铃薯、葡萄等 10+ 种作物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每类样本量 100~800 张，RGB 自然光叶片特写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▎标签体系（多任务学习核心——双重标签）：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标签1 — 病害类别：61 分类（如 Apple_Scab、Corn_Blight）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标签2 — 严重程度：3 级（健康 / 一般 / 严重），由类别名称规则自动映射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双标签设计使模型可同时学习「是什么病」和「多严重」两个关联任务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▎数据收集策略：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公开数据集下载 + Python 脚本批量整理、自动去重、格式统一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内置模拟数据集脚本（generate_mock_dataset.py），支持快速原型验证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1645920" cy="73152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4023359"/>
            <a:ext cx="14996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54,306</a:t>
            </a:r>
          </a:p>
          <a:p>
            <a:pPr algn="ctr"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总图像数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931920"/>
            <a:ext cx="1645920" cy="731520"/>
          </a:xfrm>
          <a:prstGeom prst="roundRect">
            <a:avLst/>
          </a:prstGeom>
          <a:solidFill>
            <a:srgbClr val="D4E0B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4023359"/>
            <a:ext cx="14996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61</a:t>
            </a:r>
          </a:p>
          <a:p>
            <a:pPr algn="ctr"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病害类别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931920"/>
            <a:ext cx="1645920" cy="73152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7952" y="4023359"/>
            <a:ext cx="14996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10+</a:t>
            </a:r>
          </a:p>
          <a:p>
            <a:pPr algn="ctr"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作物种类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931920"/>
            <a:ext cx="1645920" cy="731520"/>
          </a:xfrm>
          <a:prstGeom prst="roundRect">
            <a:avLst/>
          </a:prstGeom>
          <a:solidFill>
            <a:srgbClr val="D4E0B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4023359"/>
            <a:ext cx="14996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100~800</a:t>
            </a:r>
          </a:p>
          <a:p>
            <a:pPr algn="ctr"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每类样本量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931920"/>
            <a:ext cx="1097280" cy="73152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4023359"/>
            <a:ext cx="95097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严重度等级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二、  数据预处理与数据集划分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▎预处理步骤（将原始图像转为模型可训练的数值张量）：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① 统一缩放至 128×128 标准输入尺寸（MobileNetV2 推荐输入）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② 图像归一化：像素值标准化为 [0,1] 区间，使用 ImageNet 均值和标准差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③ 数据增强（仅训练集）：RandomHorizontalFlip + ColorJitter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    → 提升泛化能力，等价于扩大训练集 4~8 倍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④ 标签编码：病害 61 类 → One-hot 编码；严重度 3 级 → 序数编码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▎数据集划分策略：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按 8:2 比例随机划分训练集 / 验证集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分层采样（Stratified Split）：保证 61 个类别在训练/验证中比例一致</a:t>
            </a:r>
          </a:p>
          <a:p>
            <a:pPr>
              <a:spcAft>
                <a:spcPts val="6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   · 支持 sample_ratio 参数子采样，用于快速迭代实验（如 10% 子集）</a:t>
            </a:r>
          </a:p>
        </p:txBody>
      </p:sp>
      <p:pic>
        <p:nvPicPr>
          <p:cNvPr id="5" name="Picture 4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4023360" cy="1371600"/>
          </a:xfrm>
          <a:prstGeom prst="rect">
            <a:avLst/>
          </a:prstGeom>
        </p:spPr>
      </p:pic>
      <p:pic>
        <p:nvPicPr>
          <p:cNvPr id="6" name="Picture 5" descr="data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688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三、  多任务深度学习模型架构设计（核心页）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11887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20" y="2286000"/>
            <a:ext cx="2743200" cy="256032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C5F2D"/>
                </a:solidFill>
                <a:latin typeface="Microsoft YaHei"/>
              </a:defRPr>
            </a:pPr>
            <a:r>
              <a:t>骨干网络</a:t>
            </a:r>
            <a:br/>
            <a:r>
              <a:t>MobileNetV2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轻量卷积网络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倒残差结构设计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参数量仅 3.5M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CPU 推理 &lt;50ms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适合边缘设备部署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2743200" cy="256032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3774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C5F2D"/>
                </a:solidFill>
                <a:latin typeface="Microsoft YaHei"/>
              </a:defRPr>
            </a:pPr>
            <a:r>
              <a:t>跨任务注意力</a:t>
            </a:r>
            <a:br/>
            <a:r>
              <a:t>CrossTaskAttention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双路注意力机制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病害↔严重度特征交互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共享表征互相增强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提升泛化能力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端到端可训练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2743200" cy="256032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C5F2D"/>
                </a:solidFill>
                <a:latin typeface="Microsoft YaHei"/>
              </a:defRPr>
            </a:pPr>
            <a:r>
              <a:t>双分支输出头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分支1：61 分类头 → 病害类别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分支2：3 分类头 → 严重度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综合输出：风险评分(0-100)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一图三结果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✓ 多任务联合优化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四、  模型训练策略与调优过程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3963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训练配置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设定值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优化器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Adam (lr=0.001, β₁=0.9, β₂=0.999)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自适应矩估计，收敛速度快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损失函数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CE(病害) + λ·CE(严重度), λ=1.0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双任务加权求和，1:1 经实验最优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适应 CPU / 低显存训练环境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输入尺寸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128×128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精度与推理速度的平衡点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最大训练轮数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30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含早停 (patience=5) 防止过拟合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学习率调度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ReduceLROnPlateau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验证损失不降时自动降低 lr×0.5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27432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47472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▎调优策略（重点考核内容）：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① 迁移学习：加载 ImageNet 预训练权重，冻结底层 10 层后微调 → 加速收敛 10~15%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② 正则化组合：Dropout(0.3) + 数据增强 + L2 weight decay(1e-4) → 验证损失降低 0.3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③ 消融实验—损失权重：对比 [1:1, 2:1, 1:2] 三种权重组合，1:1 时双任务精度最均衡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④ 消融实验—单任务 vs 多任务：多任务模型病害准确率提升 6.5%（68.2%→74.7%）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⑤ 早停机制：验证损失连续 5 epoch 不下降即停止，实际收敛于 ~23 epoch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⑥ 迭代策略：10% 子集快速验证 → 全量数据正式训练 → Grid Search 超参数扫描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五、  定量实验结果与精度分析（核心考核页）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评价指标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验证集结果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病害 Top-1 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74.7%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61 类细粒度分类整体正确率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宏平均 F1 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各类 F1 算术平均，关注少数类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严重度分类准确率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85%+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健康/一般/严重三分类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健康类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&gt;0.92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苹果/玉米/番茄健康样本非常可靠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单张推理速度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&lt;50ms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MobileNetV2 轻量高效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mt_v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338328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291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▎结果分析：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① 61 类细分类别难度大 → 74.7% Top-1 精度满足农业辅助诊断需求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② 严重程度区分优秀（85%+）→ 健康/一般/严重三级清晰可辨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③ 多任务模型优于单任务（+6.5%）→ 共享表征确实提升泛化能力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④ 健康类 F1 &gt; 0.92 → 模型不会误报健康叶片，实用可靠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⑤ 错误分析：错误集中在症状相似病害（如番茄早疫 vs 晚疫），</a:t>
            </a:r>
          </a:p>
          <a:p>
            <a:pPr>
              <a:spcAft>
                <a:spcPts val="600"/>
              </a:spcAft>
              <a:defRPr sz="1250">
                <a:solidFill>
                  <a:srgbClr val="1A2E1A"/>
                </a:solidFill>
                <a:latin typeface="Microsoft YaHei"/>
              </a:defRPr>
            </a:pPr>
            <a:r>
              <a:t>      后续可通过细粒度标注（Fine-grained Annotation）和注意力机制优化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六、  重点类别性能与错误分析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1828800"/>
          </a:xfrm>
          <a:prstGeom prst="rect">
            <a:avLst/>
          </a:prstGeom>
        </p:spPr>
      </p:pic>
      <p:pic>
        <p:nvPicPr>
          <p:cNvPr id="5" name="Picture 4" descr="class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429768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260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▎重点类别分析（从柱状图可看出）：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健康类（苹果/玉米/番茄/马铃薯）F1 &gt; 0.90 → 健康检测非常可靠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玉米矮化花叶病毒 F1 = 0.996 → 高区分度病害特征明显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柑桔黄化（一般）F1=0.68 / 严重 F1=0.51 → 同一病害不同阶段易混淆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番茄黄叶卷（一般）F1=0.65 → 与其他番茄叶部病害症状相似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▎错误模式总结：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类型Ⅰ（同类不同严重度）：同一病害的健康/一般/严重边界模糊 → 可增加连续值标注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类型Ⅱ（症状相似的不同病害）：番茄早疫 vs 晚疫、细菌性斑 vs 真菌性斑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   · 类型Ⅲ（光照/背景干扰）：部分样本曝光不足或叶片遮挡导致误判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Microsoft YaHei"/>
              </a:defRPr>
            </a:pPr>
            <a:r>
              <a:t>▎改进方向：引入细粒度分类（Fine-Grained ViT）+ 对比学习（Contrastive Learning）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七、  Grad-CAM 可解释性分析</a:t>
            </a:r>
          </a:p>
        </p:txBody>
      </p:sp>
      <p:pic>
        <p:nvPicPr>
          <p:cNvPr id="4" name="Picture 3" descr="grad_cam_0003faa8-4b27-4c65-bf42-6d9e352ca1a5___RS_Late.B 49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40480" cy="2377440"/>
          </a:xfrm>
          <a:prstGeom prst="rect">
            <a:avLst/>
          </a:prstGeom>
        </p:spPr>
      </p:pic>
      <p:pic>
        <p:nvPicPr>
          <p:cNvPr id="5" name="Picture 4" descr="grad_cam_0003faa8-4b27-4c65-bf42-6d9e352ca1a5___RS_Late.B 49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384048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56616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▎上方展示：病害叶片原图 + Grad-CAM 热力图叠加</a:t>
            </a:r>
          </a:p>
          <a:p>
            <a:pPr>
              <a:spcAft>
                <a:spcPts val="6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▎原理：利用梯度加权类激活映射，高亮模型判定病害的关键区域</a:t>
            </a:r>
          </a:p>
          <a:p>
            <a:pPr>
              <a:spcAft>
                <a:spcPts val="6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▎观察发现：模型激活区域集中在叶片病斑、变色、枯黄区域，而非背景</a:t>
            </a:r>
          </a:p>
          <a:p>
            <a:pPr>
              <a:spcAft>
                <a:spcPts val="6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▎意义：验证模型真正学习了病害病理特征，而非记忆背景伪影</a:t>
            </a:r>
          </a:p>
          <a:p>
            <a:pPr>
              <a:spcAft>
                <a:spcPts val="6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▎该可视化证明模型具有良好的可解释性和可信度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八、  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06240" cy="201168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Microsoft YaHei"/>
              </a:defRPr>
            </a:pPr>
            <a:r>
              <a:t>✅ 项目核心结论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① 完整实现 ML 流水线：数据收集→训练→评估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② 多任务模型 (MobileNetV2+CTA) 效果优于单任务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③ 病害 74.7% / 严重度 85%+ / 推理 &lt;50ms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4206240" cy="1463040"/>
          </a:xfrm>
          <a:prstGeom prst="roundRect">
            <a:avLst/>
          </a:prstGeom>
          <a:solidFill>
            <a:srgbClr val="FDF0E0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85042"/>
                </a:solidFill>
                <a:latin typeface="Microsoft YaHei"/>
              </a:defRPr>
            </a:pPr>
            <a:r>
              <a:t>⚠️ 现有不足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① 相似病害细分类准确率待提升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② 缺少连续严重度回归标注（目前仅 3 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4206240" cy="2011680"/>
          </a:xfrm>
          <a:prstGeom prst="roundRect">
            <a:avLst/>
          </a:prstGeom>
          <a:solidFill>
            <a:srgbClr val="E0ECF8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8346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🔭 未来改进方向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① 细粒度 ViT + 对比学习提升相似病害区分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② 连续严重度回归 (0-100) 替代 3 级离散</a:t>
            </a:r>
          </a:p>
          <a:p>
            <a:pPr>
              <a:defRPr sz="1100" b="0">
                <a:solidFill>
                  <a:srgbClr val="1A2E1A"/>
                </a:solidFill>
                <a:latin typeface="Microsoft YaHei"/>
              </a:defRPr>
            </a:pPr>
            <a:r>
              <a:t>③ 少样本学习 → 快速扩展新病害种类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8229600" cy="2743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5D4A"/>
                </a:solidFill>
                <a:latin typeface="Microsoft YaHei"/>
              </a:defRPr>
            </a:pPr>
            <a:r>
              <a:t>感谢老师指导！代码开源：github.com/yixi1951/Plant-Hazard-Risk-Assessment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