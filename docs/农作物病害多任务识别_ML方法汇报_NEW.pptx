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9144000" cy="9144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农作物病害多任务识别</a:t>
            </a:r>
            <a:br/>
            <a:r>
              <a:t>机器学习方法汇报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核心方法：监督学习 · 卷积神经网络 · 多任务学习 · 迁移学习 · 对比实验评估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341122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F5F0"/>
                </a:solidFill>
                <a:latin typeface="微软雅黑" panose="020B0503020204020204" charset="-122"/>
              </a:defRPr>
            </a:pPr>
            <a:r>
              <a:t>数据管线 → 学习目标与优化 → 验证集定量结果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0"/>
                </a:solidFill>
                <a:latin typeface="微软雅黑" panose="020B0503020204020204" charset="-122"/>
              </a:defRPr>
            </a:pPr>
            <a:r>
              <a:t>姓名：______  班级：______  日期：______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65760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C080"/>
                </a:solidFill>
                <a:latin typeface="微软雅黑" panose="020B0503020204020204" charset="-122"/>
              </a:defRPr>
            </a:pPr>
            <a:r>
              <a:t>MobileNetV2 · CrossTaskAttention · PlantVillage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汇报逻辑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机器学习标准流程：问题定义 → 数据与特征 → 模型与优化 → 实验评估</a:t>
            </a:r>
          </a:p>
        </p:txBody>
      </p:sp>
      <p:pic>
        <p:nvPicPr>
          <p:cNvPr id="5" name="Picture 4" descr="ml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8503920" cy="2331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3703320"/>
            <a:ext cx="2697480" cy="123444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376732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① 数据（监督学习）</a:t>
            </a:r>
          </a:p>
          <a:p>
            <a:pPr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PlantVillage 有标注样本；双重标签 y1/y2；增强与分层划分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3703320"/>
            <a:ext cx="2697480" cy="123444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376732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② 方法（深度学习）</a:t>
            </a:r>
          </a:p>
          <a:p>
            <a:pPr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CNN 表征 + 多任务损失；Adam 优化；迁移学习与正则化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2697480" cy="123444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76732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③ 评估（实验设计）</a:t>
            </a:r>
          </a:p>
          <a:p>
            <a:pPr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验证集指标；单任务基线对照；混淆矩阵与误差分析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机器学习汇报结构：数据 · 方法 · 实验评估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269748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2697480" cy="2606040"/>
          </a:xfrm>
          <a:prstGeom prst="roundRect">
            <a:avLst/>
          </a:prstGeom>
          <a:solidFill>
            <a:srgbClr val="FAFAF5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一、监督学习数据与标签</a:t>
            </a:r>
          </a:p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二、预处理与划分策略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51560"/>
            <a:ext cx="269748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115568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691640"/>
            <a:ext cx="2697480" cy="2606040"/>
          </a:xfrm>
          <a:prstGeom prst="roundRect">
            <a:avLst/>
          </a:prstGeom>
          <a:solidFill>
            <a:srgbClr val="FAFAF5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三、问题形式化与网络</a:t>
            </a:r>
          </a:p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四、损失函数与优化调优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51560"/>
            <a:ext cx="269748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15568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97480" cy="2606040"/>
          </a:xfrm>
          <a:prstGeom prst="roundRect">
            <a:avLst/>
          </a:prstGeom>
          <a:solidFill>
            <a:srgbClr val="FAFAF5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82880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五、定量实验与基线对比</a:t>
            </a:r>
          </a:p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六、机器学习小结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机器学习问题与实验设定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监督学习 · 多任务学习 · 单任务基线对照</a:t>
            </a:r>
          </a:p>
        </p:txBody>
      </p:sp>
      <p:pic>
        <p:nvPicPr>
          <p:cNvPr id="5" name="Picture 4" descr="ml_paradig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32688"/>
            <a:ext cx="8503920" cy="19659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2971800"/>
          <a:ext cx="85039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28085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ML 要素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本课题设定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学习范式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监督学习（每张图像有类别与严重度标签）</a:t>
                      </a:r>
                    </a:p>
                  </a:txBody>
                  <a:tcPr/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任务类型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多任务学习：61 类病害分类 + 3 类严重度分类</a:t>
                      </a:r>
                    </a:p>
                  </a:txBody>
                  <a:tcPr/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深度卷积神经网络（MobileNetV2 骨干 + 任务注意力）</a:t>
                      </a:r>
                    </a:p>
                  </a:txBody>
                  <a:tcPr/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最小化加权交叉熵 L = α·CE(y1) + β·CE(y2)</a:t>
                      </a:r>
                    </a:p>
                  </a:txBody>
                  <a:tcPr/>
                </a:tc>
              </a:tr>
              <a:tr h="28085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对比实验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多任务模型 vs 两个独立单任务模型（相同数据与训练预算）</a:t>
                      </a:r>
                    </a:p>
                  </a:txBody>
                  <a:tcPr/>
                </a:tc>
              </a:tr>
              <a:tr h="2808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评估协议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固定 8:2 分层划分；报告 Top-1、宏 F1、严重度准确率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相关工作与方法路线对比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PlantVillage 病害识别：手工特征+分类器 → 端到端 CNN → 本课题多任务 CNN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6032" y="960120"/>
          <a:ext cx="8641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216"/>
                <a:gridCol w="1728216"/>
                <a:gridCol w="1728216"/>
                <a:gridCol w="1728216"/>
                <a:gridCol w="1728216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方法路线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特征 / 模型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学习范式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PlantVillage 典型表现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主要局限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传统机器学习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HOG / 颜色直方图 / LBP + SVM 或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监督学习（浅层特征）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Top-1 约 50%~70%（视特征与类数）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需人工设计特征；细粒度类间难区分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单任务深度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AlexNet / ResNet / VGG 等端到端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监督学习 + 可选迁移学习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单任务 Top-1 可达 90%+（全类、充足算力）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每任务一模型；严重度需另训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轻量 CNN + 迁移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MobileNet / EfficientNet 微调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迁移学习（ImageNet→病害）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精度与速度折中，适合边缘部署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多任务联合建模研究较少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本课题方法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MobileNetV2 + CrossTaskAttention 双头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多任务监督 + 迁移学习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验证集病害 74.7%、严重度 85.3%（61 类+3 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相似病害仍易混淆；规则严重度标签有噪声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11880"/>
            <a:ext cx="8412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▎文献与基准：PlantVillage 为农业视觉最常用的公开监督数据集，深度 CNN 已逐步取代手工特征成为主流。</a:t>
            </a:r>
          </a:p>
          <a:p>
            <a:pPr>
              <a:spcAft>
                <a:spcPts val="600"/>
              </a:spcAft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▎本课题定位：在可部署的轻量骨干上，用多任务学习同时优化病害与严重度，并以单任务 CNN 为对照组验证方法收益。</a:t>
            </a:r>
          </a:p>
          <a:p>
            <a:pPr>
              <a:spcAft>
                <a:spcPts val="600"/>
              </a:spcAft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▎公平对比说明：本汇报基线与多任务模型使用相同划分、增强策略与训练轮数，差异仅在于是否共享表征与联合损失。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9144000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960120"/>
            <a:ext cx="1051560" cy="1051560"/>
          </a:xfrm>
          <a:prstGeom prst="ellipse">
            <a:avLst/>
          </a:prstGeom>
          <a:solidFill>
            <a:srgbClr val="2C5F2D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51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05156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第一部分 · 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33172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监督样本构造、标签体系与训练/验证划分（ML 数据管线）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一、  监督学习数据与标签构造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样本空间、标签空间与多任务标注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1. 样本与标签（监督学习）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训练集 D = {(x_i, y_i^d, y_i^s)}，x 为叶片 RGB 图像。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数据源：PlantVillage 公开基准（54,306 张）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y^d ∈ {1,…,61}：病害类别（含健康）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y^s ∈ {0,1,2}：严重度（健康 / 一般 / 严重）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2. 多任务标签设计（方法要点）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同一图像共享输入，两个相关监督信号联合训练，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促使网络学习对「病害种类 + 病情程度」均判别性的特征。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严重度标签由类别名规则映射，保证标注一致性。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3. 实验数据用途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全量数据用于正式训练；子采样用于超参/流程快速验证。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188720"/>
            <a:ext cx="1645920" cy="91440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76672" y="1280160"/>
            <a:ext cx="14996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54,306</a:t>
            </a:r>
          </a:p>
          <a:p>
            <a:pPr algn="ctr"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总样本量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188720"/>
            <a:ext cx="1645920" cy="91440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1280160"/>
            <a:ext cx="14996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61</a:t>
            </a:r>
          </a:p>
          <a:p>
            <a:pPr algn="ctr"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病害类别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286000"/>
            <a:ext cx="1645920" cy="91440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76672" y="2377440"/>
            <a:ext cx="14996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10+</a:t>
            </a:r>
          </a:p>
          <a:p>
            <a:pPr algn="ctr"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作物种类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286000"/>
            <a:ext cx="1645920" cy="91440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377440"/>
            <a:ext cx="14996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3</a:t>
            </a:r>
          </a:p>
          <a:p>
            <a:pPr algn="ctr"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严重度等级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383280"/>
            <a:ext cx="3474720" cy="146304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474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多任务监督信号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y^d: 61 类分类  y^s: 3 类分类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共享输入 x，联合学习表征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硬参数共享 (Hard Sharing)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二、  特征预处理与数据集划分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输入变换 · 正则化手段 · 可复现实验划分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1. 输入变换（特征工程 / 适配预训练 CNN）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几何：Resize 至 128×128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标准化：ImageNet μ, σ（与迁移学习假设一致）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训练期随机增强：水平翻转、颜色抖动 → 扩大训练分布，降低过拟合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标签：y^d 为 61 维 one-hot；y^s 为 3 类整数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2. 划分策略（评估无泄漏）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8:2 训练 / 验证，按病害类别分层抽样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验证集仅用于早停与报告指标，不参与参数更新</a:t>
            </a:r>
          </a:p>
          <a:p>
            <a:pPr>
              <a:spcAft>
                <a:spcPts val="600"/>
              </a:spcAft>
              <a:defRPr sz="12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· 子采样比例用于调试训练循环与超参搜索</a:t>
            </a:r>
          </a:p>
        </p:txBody>
      </p:sp>
      <p:pic>
        <p:nvPicPr>
          <p:cNvPr id="6" name="Picture 5" descr="data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05840"/>
            <a:ext cx="4023360" cy="1371600"/>
          </a:xfrm>
          <a:prstGeom prst="rect">
            <a:avLst/>
          </a:prstGeom>
        </p:spPr>
      </p:pic>
      <p:pic>
        <p:nvPicPr>
          <p:cNvPr id="7" name="Picture 6" descr="data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560320"/>
            <a:ext cx="274320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D4A"/>
                </a:solidFill>
                <a:latin typeface="微软雅黑" panose="020B0503020204020204" charset="-122"/>
              </a:defRPr>
            </a:pPr>
            <a:r>
              <a:t>第一部分 · 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914400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960120"/>
            <a:ext cx="1051560" cy="1051560"/>
          </a:xfrm>
          <a:prstGeom prst="ellipse">
            <a:avLst/>
          </a:prstGeom>
          <a:solidFill>
            <a:srgbClr val="2C5F2D"/>
          </a:solidFill>
          <a:ln>
            <a:solidFill>
              <a:srgbClr val="B85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51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05156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第二部分 ·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33172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假设空间、多任务 CNN、损失函数与优化算法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三、  问题形式化与多任务 CNN 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共享表征 h(x) · 双分类头 · 任务间注意力融合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1188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4320" y="2286000"/>
            <a:ext cx="2743200" cy="256032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33172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假设空间：CNN 骨干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f_θ: R^{128×128×3}→R^d，θ 为 MobileNetV2 参数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迁移学习：θ 由 ImageNet 预训练初始化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倒残差 + 深度可分离卷积 → 小模型、可部署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ML 视角：学习层次化视觉特征表示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2743200" cy="256032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33172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方法：CrossTaskAttention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多任务学习：任务相关时共享底层更有利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注意力加权融合双任务特征 → 缓解负迁移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可学习交互，优于简单共享+双头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消融：多任务较单任务 +6.5% Top-1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2743200" cy="256032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33172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输出与决策规则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ŷ^d = argmax Softmax(W_d·h)  （61 类）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ŷ^s = argmax Softmax(W_s·h)  （3 类）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风险分：后处理组合（非额外监督）</a:t>
            </a:r>
          </a:p>
          <a:p>
            <a:pPr>
              <a:spcAft>
                <a:spcPts val="200"/>
              </a:spcAft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一次前向 = 两个判别函数联合推断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四、  损失函数、优化与超参数调优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ERM + 多任务损失 · Adam · 正则化与早停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3963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ML 配置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设定值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方法说明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优化算法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Adam, lr=1e-3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随机梯度下降的一阶自适应变体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小批量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Mini-batch SGD，平衡噪声与稳定性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训练轮数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≤30 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验证集监控；早停防过拟合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早停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patience=5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模型选择准则：验证损失最小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正则化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Dropout + 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结构风险最小化近似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损失权重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α=β=1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多任务标量化的网格对比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loss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05840"/>
            <a:ext cx="292608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3474720"/>
            <a:ext cx="3657600" cy="1371600"/>
          </a:xfrm>
          <a:prstGeom prst="roundRect">
            <a:avLst/>
          </a:prstGeom>
          <a:solidFill>
            <a:srgbClr val="FDF5E6"/>
          </a:solidFill>
          <a:ln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4A01E"/>
                </a:solidFill>
                <a:latin typeface="微软雅黑" panose="020B0503020204020204" charset="-122"/>
              </a:defRPr>
            </a:pPr>
            <a:r>
              <a:t>经验风险最小化 (ERM)</a:t>
            </a:r>
          </a:p>
          <a:p>
            <a:pPr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L(θ)=α·CE(y^d,ŷ^d)+β·CE(y^s,ŷ^s)</a:t>
            </a:r>
          </a:p>
          <a:p>
            <a:pPr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CE：多类交叉熵；α=β=1 为对照实验最优</a:t>
            </a:r>
          </a:p>
          <a:p>
            <a:pPr>
              <a:defRPr sz="10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θ 更新：θ←θ−η∇_θ L（Adam 估计梯度）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5204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▎机器学习调优流程：</a:t>
            </a:r>
          </a:p>
          <a:p>
            <a:pPr>
              <a:spcAft>
                <a:spcPts val="600"/>
              </a:spcAft>
              <a:defRPr sz="115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① 基线（对照组）：两路独立单任务 CNN，相同 θ 初始化与 epoch</a:t>
            </a:r>
          </a:p>
          <a:p>
            <a:pPr>
              <a:spcAft>
                <a:spcPts val="600"/>
              </a:spcAft>
              <a:defRPr sz="115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② 迁移学习：预训练 θ₀，微调高层 → 降低样本复杂度</a:t>
            </a:r>
          </a:p>
          <a:p>
            <a:pPr>
              <a:spcAft>
                <a:spcPts val="600"/>
              </a:spcAft>
              <a:defRPr sz="115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③ 偏差-方差：增强+Dropout 抑制过拟合；曲线监控 train/val 差距</a:t>
            </a:r>
          </a:p>
          <a:p>
            <a:pPr>
              <a:spcAft>
                <a:spcPts val="600"/>
              </a:spcAft>
              <a:defRPr sz="115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④ 模型选择：以验证集损失选 checkpoint（非训练集准确率）</a:t>
            </a:r>
          </a:p>
          <a:p>
            <a:pPr>
              <a:spcAft>
                <a:spcPts val="600"/>
              </a:spcAft>
              <a:defRPr sz="115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⑤ 超参：损失权重 (α,β) 离散搜索</a:t>
            </a:r>
          </a:p>
          <a:p>
            <a:pPr>
              <a:spcAft>
                <a:spcPts val="600"/>
              </a:spcAft>
              <a:defRPr sz="115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   ⑥ 可复现：固定划分与随机种子（流程级）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D4A"/>
                </a:solidFill>
                <a:latin typeface="微软雅黑" panose="020B0503020204020204" charset="-122"/>
              </a:defRPr>
            </a:pPr>
            <a:r>
              <a:t>第二部分 · 方法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9144000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960120"/>
            <a:ext cx="1051560" cy="1051560"/>
          </a:xfrm>
          <a:prstGeom prst="ellipse">
            <a:avLst/>
          </a:prstGeom>
          <a:solidFill>
            <a:srgbClr val="2C5F2D"/>
          </a:solidFill>
          <a:ln>
            <a:solidFill>
              <a:srgbClr val="D4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51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05156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第三部分 · 实验评估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33172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验证集指标、对照实验、混淆矩阵与误差分析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  对照实验与验证集指标（1/2）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Hold-out 验证 · 多任务 vs 单任务基线 · 统计性对比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ML 评价指标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多任务 (实验组)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单任务 (基线)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病害 Top-1 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74.7%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+6.5%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宏平均 F1 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+0.06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严重度分类准确率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85.3%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+4.2%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健康类 F1 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单张推理速度 (CPU)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&lt;50ms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~90ms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E1A"/>
                          </a:solidFill>
                          <a:latin typeface="微软雅黑" panose="020B0503020204020204" charset="-122"/>
                        </a:defRPr>
                      </a:pPr>
                      <a:r>
                        <a:t>-44%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mt_vs_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05840"/>
            <a:ext cx="201168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0040" y="3520440"/>
            <a:ext cx="1874519" cy="960120"/>
          </a:xfrm>
          <a:prstGeom prst="round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3611880"/>
            <a:ext cx="1728216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74.7%</a:t>
            </a:r>
          </a:p>
          <a:p>
            <a:pPr algn="ctr"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病害 Top-1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3520440"/>
            <a:ext cx="1874519" cy="960120"/>
          </a:xfrm>
          <a:prstGeom prst="roundRect">
            <a:avLst/>
          </a:prstGeom>
          <a:solidFill>
            <a:srgbClr val="2563EB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3611880"/>
            <a:ext cx="1728216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0.70</a:t>
            </a:r>
          </a:p>
          <a:p>
            <a:pPr algn="ctr"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宏平均 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520440"/>
            <a:ext cx="1874519" cy="960120"/>
          </a:xfrm>
          <a:prstGeom prst="roundRect">
            <a:avLst/>
          </a:prstGeom>
          <a:solidFill>
            <a:srgbClr val="B8504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3611880"/>
            <a:ext cx="1728216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85.3%</a:t>
            </a:r>
          </a:p>
          <a:p>
            <a:pPr algn="ctr"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严重度准确率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520440"/>
            <a:ext cx="1874519" cy="960120"/>
          </a:xfrm>
          <a:prstGeom prst="roundRect">
            <a:avLst/>
          </a:prstGeom>
          <a:solidFill>
            <a:srgbClr val="4A5D4A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611880"/>
            <a:ext cx="1728216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&lt;50ms</a:t>
            </a:r>
          </a:p>
          <a:p>
            <a:pPr algn="ctr"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CPU 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028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D4A"/>
                </a:solidFill>
                <a:latin typeface="微软雅黑" panose="020B0503020204020204" charset="-122"/>
              </a:defRPr>
            </a:pPr>
            <a:r>
              <a:t>对照实验结论：共享表征的多任务学习优于独立训练；宏 F1 关注类别不均衡下的整体判别力。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D4A"/>
                </a:solidFill>
                <a:latin typeface="微软雅黑" panose="020B0503020204020204" charset="-122"/>
              </a:defRPr>
            </a:pPr>
            <a:r>
              <a:t>第三部分 · 实验评估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五、  误差分析与类别级指标（2/2）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混淆矩阵 · Precision/Recall/F1 · 失败模式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60120"/>
            <a:ext cx="4114800" cy="3063240"/>
          </a:xfrm>
          <a:prstGeom prst="rect">
            <a:avLst/>
          </a:prstGeom>
        </p:spPr>
      </p:pic>
      <p:pic>
        <p:nvPicPr>
          <p:cNvPr id="6" name="Picture 5" descr="class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60120"/>
            <a:ext cx="425196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6052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▎混淆矩阵：估计 P(ŷ|y)；非对角块对应系统性混淆（类间决策边界重叠）。</a:t>
            </a:r>
          </a:p>
          <a:p>
            <a:pPr>
              <a:spcAft>
                <a:spcPts val="600"/>
              </a:spcAft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▎P/R/F1：精确率-召回权衡；宏平均对少样本类更敏感，适合 61 类长尾分布。</a:t>
            </a:r>
          </a:p>
          <a:p>
            <a:pPr>
              <a:spcAft>
                <a:spcPts val="600"/>
              </a:spcAft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▎失败模式：近邻类边界难 · 标签噪声 · 分布外样本（域偏移）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六、  机器学习方法小结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范式 · 模型 · 优化 · 实验结论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8595360" cy="2011680"/>
          </a:xfrm>
          <a:prstGeom prst="roundRect">
            <a:avLst/>
          </a:prstGeom>
          <a:solidFill>
            <a:srgbClr val="E8F0E0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机器学习贡献归纳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① 问题：监督式多任务分类（61 类病害 + 3 类严重度），PlantVillage 基准。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② 方法：CNN 表征学习 + 硬参数共享 + CrossTaskAttention + 加权 CE 损失。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③ 优化：ImageNet 迁移初始化、Adam、Dropout/增强、验证集早停与模型选择。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④ 实验：单任务基线对照；验证集 Top-1=74.7%、宏 F1=0.70，多任务一致优于基线。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⑤ 局限：细粒度类间混淆仍显著（假设空间/数据覆盖不足）。</a:t>
            </a:r>
          </a:p>
          <a:p>
            <a:pPr>
              <a:defRPr sz="1100" b="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⑥ 延伸：更大骨干、对比学习预训练、代价敏感学习。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1920240" cy="10058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920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74.7%</a:t>
            </a:r>
          </a:p>
          <a:p>
            <a:pPr algn="ctr">
              <a:defRPr sz="1000">
                <a:solidFill>
                  <a:srgbClr val="E0E8D0"/>
                </a:solidFill>
                <a:latin typeface="微软雅黑" panose="020B0503020204020204" charset="-122"/>
              </a:defRPr>
            </a:pPr>
            <a:r>
              <a:t>病害Top-1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3383280"/>
            <a:ext cx="192024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3429000"/>
            <a:ext cx="1920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0.70</a:t>
            </a:r>
          </a:p>
          <a:p>
            <a:pPr algn="ctr">
              <a:defRPr sz="1000">
                <a:solidFill>
                  <a:srgbClr val="E0E8D0"/>
                </a:solidFill>
                <a:latin typeface="微软雅黑" panose="020B0503020204020204" charset="-122"/>
              </a:defRPr>
            </a:pPr>
            <a:r>
              <a:t>宏平均F1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383280"/>
            <a:ext cx="1920240" cy="100584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429000"/>
            <a:ext cx="1920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85.3%</a:t>
            </a:r>
          </a:p>
          <a:p>
            <a:pPr algn="ctr">
              <a:defRPr sz="1000">
                <a:solidFill>
                  <a:srgbClr val="E0E8D0"/>
                </a:solidFill>
                <a:latin typeface="微软雅黑" panose="020B0503020204020204" charset="-122"/>
              </a:defRPr>
            </a:pPr>
            <a:r>
              <a:t>严重度准确率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383280"/>
            <a:ext cx="1920240" cy="1005840"/>
          </a:xfrm>
          <a:prstGeom prst="roundRect">
            <a:avLst/>
          </a:prstGeom>
          <a:solidFill>
            <a:srgbClr val="4A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429000"/>
            <a:ext cx="1920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&lt;50ms</a:t>
            </a:r>
          </a:p>
          <a:p>
            <a:pPr algn="ctr">
              <a:defRPr sz="1000">
                <a:solidFill>
                  <a:srgbClr val="E0E8D0"/>
                </a:solidFill>
                <a:latin typeface="微软雅黑" panose="020B0503020204020204" charset="-122"/>
              </a:defRPr>
            </a:pPr>
            <a:r>
              <a:t>CPU推理速度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5D4A"/>
                </a:solidFill>
                <a:latin typeface="微软雅黑" panose="020B0503020204020204" charset="-122"/>
              </a:defRPr>
            </a:pPr>
            <a:r>
              <a:t>感谢老师指导与同学聆听  |  代码开源：github.com/yixi1951/Plant-Hazard-Risk-Assessment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3848</Words>
  <Application>WPS 演示</Application>
  <PresentationFormat>On-screen Show (4:3)</PresentationFormat>
  <Paragraphs>395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杨子烽</cp:lastModifiedBy>
  <cp:revision>2</cp:revision>
  <dcterms:created xsi:type="dcterms:W3CDTF">2013-01-27T09:14:00Z</dcterms:created>
  <dcterms:modified xsi:type="dcterms:W3CDTF">2026-06-21T06:39:22Z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0F2513F6B36246BCA616C8AD917EA0C2_12</vt:lpwstr>
  </property>
  <property fmtid="{D5CDD505-2E9C-101B-9397-08002B2CF9AE}" pid="3" name="KSOProductBuildVer">
    <vt:lpwstr>2052-12.1.0.23542</vt:lpwstr>
  </property>
</Properties>
</file>