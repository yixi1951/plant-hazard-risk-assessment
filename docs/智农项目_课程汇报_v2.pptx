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34840"/>
            <a:ext cx="9144000" cy="109728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智农 · 农作物病虫害</a:t>
            </a:r>
            <a:br/>
            <a:r>
              <a:t>AI 智能识别与预警系统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0604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7BC62"/>
                </a:solidFill>
                <a:latin typeface="Microsoft YaHei"/>
              </a:defRPr>
            </a:pPr>
            <a:r>
              <a:t>课程汇报：从数据到模型到结果的机器学习实践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0"/>
                </a:solidFill>
                <a:latin typeface="Microsoft YaHei"/>
              </a:defRPr>
            </a:pPr>
            <a:r>
              <a:t>多任务深度学习  ·  PlantVillage 61类  ·  Flask Web 端到端部署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汇报路线图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符合课程要求：数据 → 模型 → 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34440"/>
            <a:ext cx="1325880" cy="1097280"/>
          </a:xfrm>
          <a:prstGeom prst="roundRect">
            <a:avLst/>
          </a:prstGeom>
          <a:solidFill>
            <a:srgbClr val="97BC6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1</a:t>
            </a:r>
          </a:p>
          <a:p>
            <a:pPr algn="ctr">
              <a:defRPr sz="1100">
                <a:solidFill>
                  <a:srgbClr val="1A2E1A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468880"/>
            <a:ext cx="1234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E1A"/>
                </a:solidFill>
                <a:latin typeface="Microsoft YaHei"/>
              </a:defRPr>
            </a:pPr>
            <a:r>
              <a:t>PlantVillage</a:t>
            </a:r>
            <a:br/>
            <a:r>
              <a:t>Mock数据</a:t>
            </a:r>
            <a:br/>
            <a:r>
              <a:t>收集·清洗·增强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1234440"/>
            <a:ext cx="1325880" cy="1097280"/>
          </a:xfrm>
          <a:prstGeom prst="roundRect">
            <a:avLst/>
          </a:prstGeom>
          <a:solidFill>
            <a:srgbClr val="E7E8D1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371600"/>
            <a:ext cx="1143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2</a:t>
            </a:r>
          </a:p>
          <a:p>
            <a:pPr algn="ctr">
              <a:defRPr sz="1100">
                <a:solidFill>
                  <a:srgbClr val="1A2E1A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68880"/>
            <a:ext cx="1234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E1A"/>
                </a:solidFill>
                <a:latin typeface="Microsoft YaHei"/>
              </a:defRPr>
            </a:pPr>
            <a:r>
              <a:t>MobileNetV2</a:t>
            </a:r>
            <a:br/>
            <a:r>
              <a:t>CrossTask</a:t>
            </a:r>
            <a:br/>
            <a:r>
              <a:t>Attention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234440"/>
            <a:ext cx="1325880" cy="1097280"/>
          </a:xfrm>
          <a:prstGeom prst="roundRect">
            <a:avLst/>
          </a:prstGeom>
          <a:solidFill>
            <a:srgbClr val="97BC6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371600"/>
            <a:ext cx="1143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3</a:t>
            </a:r>
          </a:p>
          <a:p>
            <a:pPr algn="ctr">
              <a:defRPr sz="1100">
                <a:solidFill>
                  <a:srgbClr val="1A2E1A"/>
                </a:solidFill>
                <a:latin typeface="Microsoft YaHei"/>
              </a:defRPr>
            </a:pPr>
            <a:r>
              <a:t>训练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468880"/>
            <a:ext cx="1234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E1A"/>
                </a:solidFill>
                <a:latin typeface="Microsoft YaHei"/>
              </a:defRPr>
            </a:pPr>
            <a:r>
              <a:t>迁移学习</a:t>
            </a:r>
            <a:br/>
            <a:r>
              <a:t>Adam优化</a:t>
            </a:r>
            <a:br/>
            <a:r>
              <a:t>损失设计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234440"/>
            <a:ext cx="1325880" cy="1097280"/>
          </a:xfrm>
          <a:prstGeom prst="roundRect">
            <a:avLst/>
          </a:prstGeom>
          <a:solidFill>
            <a:srgbClr val="E7E8D1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371600"/>
            <a:ext cx="1143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4</a:t>
            </a:r>
          </a:p>
          <a:p>
            <a:pPr algn="ctr">
              <a:defRPr sz="1100">
                <a:solidFill>
                  <a:srgbClr val="1A2E1A"/>
                </a:solidFill>
                <a:latin typeface="Microsoft YaHei"/>
              </a:defRPr>
            </a:pPr>
            <a:r>
              <a:t>调优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468880"/>
            <a:ext cx="1234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E1A"/>
                </a:solidFill>
                <a:latin typeface="Microsoft YaHei"/>
              </a:defRPr>
            </a:pPr>
            <a:r>
              <a:t>早停·Dropout</a:t>
            </a:r>
            <a:br/>
            <a:r>
              <a:t>MC Dropout</a:t>
            </a:r>
            <a:br/>
            <a:r>
              <a:t>类别平衡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234440"/>
            <a:ext cx="1325880" cy="1097280"/>
          </a:xfrm>
          <a:prstGeom prst="roundRect">
            <a:avLst/>
          </a:prstGeom>
          <a:solidFill>
            <a:srgbClr val="97BC6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371600"/>
            <a:ext cx="1143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5</a:t>
            </a:r>
          </a:p>
          <a:p>
            <a:pPr algn="ctr">
              <a:defRPr sz="1100">
                <a:solidFill>
                  <a:srgbClr val="1A2E1A"/>
                </a:solidFill>
                <a:latin typeface="Microsoft YaHei"/>
              </a:defRPr>
            </a:pPr>
            <a:r>
              <a:t>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68880"/>
            <a:ext cx="1234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E1A"/>
                </a:solidFill>
                <a:latin typeface="Microsoft YaHei"/>
              </a:defRPr>
            </a:pPr>
            <a:r>
              <a:t>Acc/F1分析</a:t>
            </a:r>
            <a:br/>
            <a:r>
              <a:t>混淆矩阵</a:t>
            </a:r>
            <a:br/>
            <a:r>
              <a:t>可视化图表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234440"/>
            <a:ext cx="1325880" cy="1097280"/>
          </a:xfrm>
          <a:prstGeom prst="roundRect">
            <a:avLst/>
          </a:prstGeom>
          <a:solidFill>
            <a:srgbClr val="E7E8D1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1371600"/>
            <a:ext cx="1143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6</a:t>
            </a:r>
          </a:p>
          <a:p>
            <a:pPr algn="ctr">
              <a:defRPr sz="1100">
                <a:solidFill>
                  <a:srgbClr val="1A2E1A"/>
                </a:solidFill>
                <a:latin typeface="Microsoft YaHei"/>
              </a:defRPr>
            </a:pPr>
            <a:r>
              <a:t>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468880"/>
            <a:ext cx="1234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E1A"/>
                </a:solidFill>
                <a:latin typeface="Microsoft YaHei"/>
              </a:defRPr>
            </a:pPr>
            <a:r>
              <a:t>Flask Web</a:t>
            </a:r>
            <a:br/>
            <a:r>
              <a:t>Grad-CAM</a:t>
            </a:r>
            <a:br/>
            <a:r>
              <a:t>防治知识库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0624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汇报逻辑：完整走通「数据准备 → 模型设计 → 训练调优 → 定量评估 → 工程部署」机器学习全链路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1. 项目背景与问题定义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▎农业痛点：农户需快速判断作物叶片「是什么病、有多严重、如何防治」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▎传统方式：依赖农业专家经验判断，响应慢、成本高，难以大规模覆盖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▎机器学习任务：图像分类 + 多任务联合学习 → 同时输出病害类别 + 严重度 + 风险评分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▎项目目标：构建端到端智能诊断系统 — 数据训练 → 模型推理 → Web 应用 → 生成防治方案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▎应用价值：降低农业技术门槛，辅助基层农技站快速决策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2. 数据来源与介绍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PlantVillage 公开数据集 + 项目自建流程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8138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▎主数据集：PlantVillage — 54,306 张叶片图像，61 个类别（作物+病害组合）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▎组织方式：按「作物_病害」文件夹分类，如 Apple_Scab、Corn_Blight 等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▎模拟数据：scripts/generate_mock_dataset.py 可生成任意多类小样本，用于快速验证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▎Kaggle 适配：scripts/prepare_kaggle_dataset.py 切分为 train/val 标准结构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▎数据规模：每类 100~800 张，图片为 RGB 自然光叶片特写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977639"/>
            <a:ext cx="1554480" cy="868680"/>
          </a:xfrm>
          <a:prstGeom prst="roundRect">
            <a:avLst/>
          </a:prstGeom>
          <a:solidFill>
            <a:srgbClr val="E7E8D1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114800"/>
            <a:ext cx="1371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54,306</a:t>
            </a:r>
          </a:p>
          <a:p>
            <a:pPr algn="ctr">
              <a:defRPr sz="1100">
                <a:solidFill>
                  <a:srgbClr val="1A2E1A"/>
                </a:solidFill>
                <a:latin typeface="Microsoft YaHei"/>
              </a:defRPr>
            </a:pPr>
            <a:r>
              <a:t>总图像数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3977639"/>
            <a:ext cx="1554480" cy="868680"/>
          </a:xfrm>
          <a:prstGeom prst="roundRect">
            <a:avLst/>
          </a:prstGeom>
          <a:solidFill>
            <a:srgbClr val="D4E0B0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4114800"/>
            <a:ext cx="1371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61</a:t>
            </a:r>
          </a:p>
          <a:p>
            <a:pPr algn="ctr">
              <a:defRPr sz="1100">
                <a:solidFill>
                  <a:srgbClr val="1A2E1A"/>
                </a:solidFill>
                <a:latin typeface="Microsoft YaHei"/>
              </a:defRPr>
            </a:pPr>
            <a:r>
              <a:t>病害类别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3977639"/>
            <a:ext cx="1554480" cy="868680"/>
          </a:xfrm>
          <a:prstGeom prst="roundRect">
            <a:avLst/>
          </a:prstGeom>
          <a:solidFill>
            <a:srgbClr val="E7E8D1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4114800"/>
            <a:ext cx="1371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128×128</a:t>
            </a:r>
          </a:p>
          <a:p>
            <a:pPr algn="ctr">
              <a:defRPr sz="1100">
                <a:solidFill>
                  <a:srgbClr val="1A2E1A"/>
                </a:solidFill>
                <a:latin typeface="Microsoft YaHei"/>
              </a:defRPr>
            </a:pPr>
            <a:r>
              <a:t>输入分辨率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3977639"/>
            <a:ext cx="1554480" cy="868680"/>
          </a:xfrm>
          <a:prstGeom prst="roundRect">
            <a:avLst/>
          </a:prstGeom>
          <a:solidFill>
            <a:srgbClr val="D4E0B0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79" y="4114800"/>
            <a:ext cx="1371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100~800</a:t>
            </a:r>
          </a:p>
          <a:p>
            <a:pPr algn="ctr">
              <a:defRPr sz="1100">
                <a:solidFill>
                  <a:srgbClr val="1A2E1A"/>
                </a:solidFill>
                <a:latin typeface="Microsoft YaHei"/>
              </a:defRPr>
            </a:pPr>
            <a:r>
              <a:t>每类样本数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3977639"/>
            <a:ext cx="1554480" cy="868680"/>
          </a:xfrm>
          <a:prstGeom prst="roundRect">
            <a:avLst/>
          </a:prstGeom>
          <a:solidFill>
            <a:srgbClr val="E7E8D1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4114800"/>
            <a:ext cx="1371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10+</a:t>
            </a:r>
          </a:p>
          <a:p>
            <a:pPr algn="ctr">
              <a:defRPr sz="1100">
                <a:solidFill>
                  <a:srgbClr val="1A2E1A"/>
                </a:solidFill>
                <a:latin typeface="Microsoft YaHei"/>
              </a:defRPr>
            </a:pPr>
            <a:r>
              <a:t>作物种类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3. 数据收集、处理与训练/验证划分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▎数据加载：支持 ImageFolder（按目录标签）和 TXT/JSON 标注文件双模式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▎数据清洗：MD5 哈希去重、损坏图像跳过（占位图兜底防止训练中断）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▎数据增强（训练集）：RandomResizedCrop + RandomHorizontalFlip + ColorJitter + Normalize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▎数据增强（验证集）：仅 Resize + CenterCrop + Normalize，保持评估稳定性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▎训练/验证划分：公开数据按目录结构（train/val）；sample_ratio 参数控制子采样比例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▎标签映射：disease_mapping 将文件夹名称映射为整数标签，同时保存 JSON 便于推理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▎类别权重：自动计算逆频率权重 → 用于 Focal Loss，缓解类别不均衡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4. 机器学习方法概述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为什么选择多任务学习（MTL）？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▎单任务方案：分别训练病害分类器 + 严重度分类器 → 两个独立模型，部署成本翻倍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▎多任务学习（MTL）：共享特征骨干网络，同时优化病害分类 + 严重程度分级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▎核心优势：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   ① 相关任务共享表征 → 小样本类别泛化能力提升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   ② 一次前向推理 → 同时获得病害种类、严重度、风险三方面信息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   ③ 模型参数量减少约 40%（对比两个独立模型）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▎对比实验：项目中同时实现 SingleTaskDiseaseModel 和 SingleTaskSeverityModel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▎推理流程：Softmax → 获取类别概率 → 规则引擎融合 → 风险评分 (0-100)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5. 模型结构设计详解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MobileNetV2 + CrossTaskAttention + 双任务头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560320"/>
            <a:ext cx="8138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▎骨干网络：MobileNetV2（ImageNet 预训练），倒残差结构，轻量级高效特征提取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▎迁移学习：冻结前 N-3 层（仅微调最后 3 层 + 分类头），减少过拟合与训练时间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▎CrossTaskAttention：1280维 → 病害/严重度双路注意力（256维），实现任务间特征交互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▎双分类头：DiseaseHead → 61 类病害；SeverityHead → 3 级严重度（健康/一般/严重）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▎总参数：~3.5M（可训练参数仅 ~0.8M），单张 CPU 推理 &lt; 50ms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6. 模型训练流程与损失设计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8138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720"/>
                <a:gridCol w="2712720"/>
                <a:gridCol w="2712720"/>
              </a:tblGrid>
              <a:tr h="31350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配置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优化器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Adam (lr=0.001)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自适应学习率，适合计算机视觉任务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病害损失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CrossEntropyLoss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61 类分类标准损失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严重度损失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CrossEntropyLoss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3 类分类，与病害损失加权求和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适应显存和 CPU 训练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输入尺寸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128×128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在精度与速度间取得平衡</a:t>
                      </a:r>
                    </a:p>
                  </a:txBody>
                  <a:tcPr/>
                </a:tc>
              </a:tr>
              <a:tr h="3135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训练 Epoch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15~30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含早停机制，patience=5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383280"/>
            <a:ext cx="8138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▎训练命令：python train_multitask_model.py --dataset-mode plantvillage --epochs 15 --patience 5</a:t>
            </a:r>
          </a:p>
          <a:p>
            <a:pPr>
              <a:spcAft>
                <a:spcPts val="8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▎快速验证：--data-dir data/mock_problem_b --epochs 5 （模拟数据 3 分钟完成训练）</a:t>
            </a:r>
          </a:p>
          <a:p>
            <a:pPr>
              <a:spcAft>
                <a:spcPts val="8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▎输出产物：best_multitask_model.pth + best_multitask_model.json（记载 class_names 和指标）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7. 调参与优化策略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8138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720"/>
                <a:gridCol w="2712720"/>
                <a:gridCol w="27127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策略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实现方式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效果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早停 (Early Stopping)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验证损失连续 patience 轮不降则停止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防止过拟合，节省训练时间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Dropout 正则化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分类头中 p=0.3 / 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缓解小样本过拟合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迁移学习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冻结底层特征，微调高层语义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加速收敛，提升 10-15% 准确率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Focal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γ=2.0，聚焦难分样本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缓解类别不均衡问题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MC Dropout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推理时多次采样估计不确定性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低置信度样本提示人工复核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学习率调整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StepLR / ReduceLROnPlateau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训练后期精细调优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79476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▎关键结论：迁移学习 + 早停 + Dropout 的组合对提升泛化效果最为显著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8. 定量精度分析（一）—— 训练过程可视化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30 Epoch 训练趋势</a:t>
            </a:r>
          </a:p>
        </p:txBody>
      </p:sp>
      <p:pic>
        <p:nvPicPr>
          <p:cNvPr id="5" name="Picture 4" descr="task1_training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9. 定量精度分析（二）—— 混淆矩阵与类别性能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4114800" cy="3474720"/>
          </a:xfrm>
          <a:prstGeom prst="rect">
            <a:avLst/>
          </a:prstGeom>
        </p:spPr>
      </p:pic>
      <p:pic>
        <p:nvPicPr>
          <p:cNvPr id="5" name="Picture 4" descr="class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51560"/>
            <a:ext cx="429768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5262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▎整体准确率：74.73%  |  宏平均 F1：0.6967  |  严重度分类准确率：85%+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10. 定量精度分析（三）—— 评估指标解读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81381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540"/>
                <a:gridCol w="2034540"/>
                <a:gridCol w="2034540"/>
                <a:gridCol w="2034540"/>
              </a:tblGrid>
              <a:tr h="3352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本实验数值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Top-1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预测类别与真实类别一致的比例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74.73%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整体性能概览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Weighted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按样本数加权的精确率与召回率调和平均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类别不均衡时更可靠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所有类别 F1 的算术平均（每类权重相同）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0.6967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关注少数类表现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Severity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严重程度三分类准确率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85%+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严重度分级评估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推理速度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单张图片 CPU 推理时间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&lt;50ms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Microsoft YaHei"/>
                        </a:defRPr>
                      </a:pPr>
                      <a:r>
                        <a:t>实际部署性能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291840"/>
            <a:ext cx="8138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▎健康类别（苹果/玉米/番茄健康）F1 &gt; 0.92，模型对健康样本识别非常可靠</a:t>
            </a:r>
          </a:p>
          <a:p>
            <a:pPr>
              <a:spcAft>
                <a:spcPts val="8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▎严重病害（如柑桔黄化(严重)）召回率偏低（0.38），因严重样本数较少且特征差异不明显</a:t>
            </a:r>
          </a:p>
          <a:p>
            <a:pPr>
              <a:spcAft>
                <a:spcPts val="8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▎建议方向：收集更多严重病害样本 / 使用加权损失函数 / 数据过采样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11. 模型可解释性 —— Grad-CAM 热力图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模型关注区域可视化</a:t>
            </a:r>
          </a:p>
        </p:txBody>
      </p:sp>
      <p:pic>
        <p:nvPicPr>
          <p:cNvPr id="5" name="Picture 4" descr="grad_cam_0003faa8-4b27-4c65-bf42-6d9e352ca1a5___RS_Late.B 49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2560320" cy="2560320"/>
          </a:xfrm>
          <a:prstGeom prst="rect">
            <a:avLst/>
          </a:prstGeom>
        </p:spPr>
      </p:pic>
      <p:pic>
        <p:nvPicPr>
          <p:cNvPr id="6" name="Picture 5" descr="grad_cam_0003faa8-4b27-4c65-bf42-6d9e352ca1a5___RS_Late.B 49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097280"/>
            <a:ext cx="2560320" cy="2560320"/>
          </a:xfrm>
          <a:prstGeom prst="rect">
            <a:avLst/>
          </a:prstGeom>
        </p:spPr>
      </p:pic>
      <p:pic>
        <p:nvPicPr>
          <p:cNvPr id="7" name="Picture 6" descr="grad_cam_0007ca44-b81d-475c-b8b5-c226a041f020___RS_HL 63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25603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749039"/>
            <a:ext cx="8138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▎Grad-CAM：利用梯度加权类激活映射，可视化模型决策依据（关注病斑区域）</a:t>
            </a:r>
          </a:p>
          <a:p>
            <a:pPr>
              <a:spcAft>
                <a:spcPts val="8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▎上图展示：模型激活区域集中在叶片病斑、变色区域，与临床诊断经验一致</a:t>
            </a:r>
          </a:p>
          <a:p>
            <a:pPr>
              <a:spcAft>
                <a:spcPts val="800"/>
              </a:spcAft>
              <a:defRPr sz="1300">
                <a:solidFill>
                  <a:srgbClr val="1A2E1A"/>
                </a:solidFill>
                <a:latin typeface="Microsoft YaHei"/>
              </a:defRPr>
            </a:pPr>
            <a:r>
              <a:t>▎意义：增加模型可解释性，增强用户对 AI 诊断结果的信任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12. 系统实现 —— Flask Web 交互界面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▎技术栈：Flask (Python) + Jinja2 模板 + ECharts 图表 + JavaScript 前端交互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▎核心功能：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   ① 图片上传：支持拖拽上传、点击选择、URL 抓取、ZIP 批量上传四种方式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   ② 智能诊断：模型即时输出 病害名称 + 置信度 + 严重程度 + 风险评分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   ③ 防治方案：自动匹配 60+ 病害知识库，生成症状·用药·复查时间线完整建议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   ④ 诊断报告：JSON/PDF 双格式下载，支持历史记录查询与趋势分析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▎部署方式：默认监听 0.0.0.0:7860，局域网内即可访问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▎演示模式：无模型亦可查看 7 条演示样例（适合答辩现场展示）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13. 领域知识库与防治方案生成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▎知识库规模：60+ 常见作物病害的完整防治方案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▎方案结构（以玉米大斑病为例）：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   诊断结果：玉米大斑病（Exserohilum turcicum），严重度 中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   推荐用药：吡唑醚菌酯·代森联 30g/亩，或苯醚甲环唑·嘧菌酯 20ml/亩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   防治建议：7-10 天间隔喷雾 2-3 次，注意轮换用药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   复查时间：初次施药后 7 天复查效果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▎风险评分融合：模型输出概率 + 严重度 → 综合风险评分 (0-100) → 三级预警</a:t>
            </a:r>
          </a:p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▎数据驱动更新：可通过 scripts/treatment_engine.py 扩展知识库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14. 端到端流程回顾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数据流贯穿整个系统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1600200" cy="1234440"/>
          </a:xfrm>
          <a:prstGeom prst="roundRect">
            <a:avLst/>
          </a:prstGeom>
          <a:solidFill>
            <a:srgbClr val="97BC6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39"/>
            <a:ext cx="14173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1</a:t>
            </a:r>
          </a:p>
          <a:p>
            <a:pPr algn="ctr">
              <a:defRPr sz="1100">
                <a:solidFill>
                  <a:srgbClr val="1A2E1A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468880"/>
            <a:ext cx="1508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E1A"/>
                </a:solidFill>
                <a:latin typeface="Microsoft YaHei"/>
              </a:defRPr>
            </a:pPr>
            <a:r>
              <a:t>PlantVillage</a:t>
            </a:r>
            <a:br/>
            <a:r>
              <a:t>收集·清洗·增强</a:t>
            </a:r>
            <a:br/>
            <a:r>
              <a:t>Train/Val划分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9967" y="1097280"/>
            <a:ext cx="1600200" cy="1234440"/>
          </a:xfrm>
          <a:prstGeom prst="roundRect">
            <a:avLst/>
          </a:prstGeom>
          <a:solidFill>
            <a:srgbClr val="E7E8D1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21408" y="1234439"/>
            <a:ext cx="14173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2</a:t>
            </a:r>
          </a:p>
          <a:p>
            <a:pPr algn="ctr">
              <a:defRPr sz="1100">
                <a:solidFill>
                  <a:srgbClr val="1A2E1A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7" y="2468880"/>
            <a:ext cx="1508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E1A"/>
                </a:solidFill>
                <a:latin typeface="Microsoft YaHei"/>
              </a:defRPr>
            </a:pPr>
            <a:r>
              <a:t>MobileNetV2</a:t>
            </a:r>
            <a:br/>
            <a:r>
              <a:t>CrossTaskAttn</a:t>
            </a:r>
            <a:br/>
            <a:r>
              <a:t>双任务头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85615" y="1097280"/>
            <a:ext cx="1600200" cy="1234440"/>
          </a:xfrm>
          <a:prstGeom prst="roundRect">
            <a:avLst/>
          </a:prstGeom>
          <a:solidFill>
            <a:srgbClr val="97BC6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77055" y="1234439"/>
            <a:ext cx="14173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3</a:t>
            </a:r>
          </a:p>
          <a:p>
            <a:pPr algn="ctr">
              <a:defRPr sz="1100">
                <a:solidFill>
                  <a:srgbClr val="1A2E1A"/>
                </a:solidFill>
                <a:latin typeface="Microsoft YaHei"/>
              </a:defRPr>
            </a:pPr>
            <a:r>
              <a:t>训练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1335" y="2468880"/>
            <a:ext cx="1508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E1A"/>
                </a:solidFill>
                <a:latin typeface="Microsoft YaHei"/>
              </a:defRPr>
            </a:pPr>
            <a:r>
              <a:t>Adam优化器</a:t>
            </a:r>
            <a:br/>
            <a:r>
              <a:t>Focal Loss</a:t>
            </a:r>
            <a:br/>
            <a:r>
              <a:t>早停·Dropout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41264" y="1097280"/>
            <a:ext cx="1600200" cy="1234440"/>
          </a:xfrm>
          <a:prstGeom prst="roundRect">
            <a:avLst/>
          </a:prstGeom>
          <a:solidFill>
            <a:srgbClr val="E7E8D1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3" y="1234439"/>
            <a:ext cx="14173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4</a:t>
            </a:r>
          </a:p>
          <a:p>
            <a:pPr algn="ctr">
              <a:defRPr sz="1100">
                <a:solidFill>
                  <a:srgbClr val="1A2E1A"/>
                </a:solidFill>
                <a:latin typeface="Microsoft YaHei"/>
              </a:defRPr>
            </a:pPr>
            <a:r>
              <a:t>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6983" y="2468880"/>
            <a:ext cx="1508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E1A"/>
                </a:solidFill>
                <a:latin typeface="Microsoft YaHei"/>
              </a:defRPr>
            </a:pPr>
            <a:r>
              <a:t>Acc: 74.73%</a:t>
            </a:r>
            <a:br/>
            <a:r>
              <a:t>F1: 0.6967</a:t>
            </a:r>
            <a:br/>
            <a:r>
              <a:t>混淆矩阵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1097280"/>
            <a:ext cx="1600200" cy="1234440"/>
          </a:xfrm>
          <a:prstGeom prst="roundRect">
            <a:avLst/>
          </a:prstGeom>
          <a:solidFill>
            <a:srgbClr val="97BC6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8352" y="1234439"/>
            <a:ext cx="14173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5</a:t>
            </a:r>
          </a:p>
          <a:p>
            <a:pPr algn="ctr">
              <a:defRPr sz="1100">
                <a:solidFill>
                  <a:srgbClr val="1A2E1A"/>
                </a:solidFill>
                <a:latin typeface="Microsoft YaHei"/>
              </a:defRPr>
            </a:pPr>
            <a:r>
              <a:t>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2631" y="2468880"/>
            <a:ext cx="1508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E1A"/>
                </a:solidFill>
                <a:latin typeface="Microsoft YaHei"/>
              </a:defRPr>
            </a:pPr>
            <a:r>
              <a:t>Flask Web</a:t>
            </a:r>
            <a:br/>
            <a:r>
              <a:t>Grad-CAM</a:t>
            </a:r>
            <a:br/>
            <a:r>
              <a:t>防治知识库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0624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Microsoft YaHei"/>
              </a:defRPr>
            </a:pPr>
            <a:r>
              <a:t>▎课程联系：监督学习 · 卷积神经网络 · 迁移学习 · 多任务学习 · 模型评估 · 全栈部署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15.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▎项目总结：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   · 构建了基于多任务深度学习的农作物病害智能诊断系统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   · 实现「数据准备 → 模型训练 → 定量评估 → Web 部署」全链路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   · 单模型同时输出病害种类、严重等级、风险评分和防治方案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▎当前不足：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   · PlantVillage 为实验室环境数据，田间复杂场景泛化性需提升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   · 部分严重病害类样本不足，召回率偏低（~0.38）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▎未来方向：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   · 引入更强骨干 (EfficientNet / ViT) 提升特征提取能力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   · 半监督/自监督学习利用海量无标注田间图像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Microsoft YaHei"/>
              </a:defRPr>
            </a:pPr>
            <a:r>
              <a:t>   · ONNX 导出 + 移动端部署，实现田间离线诊断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7BC62"/>
                </a:solidFill>
                <a:latin typeface="Microsoft YaHei"/>
              </a:defRPr>
            </a:pPr>
            <a:r>
              <a:t>Q &amp; A  ·  请老师与同学批评指正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5F0"/>
                </a:solidFill>
                <a:latin typeface="Microsoft YaHei"/>
              </a:defRPr>
            </a:pPr>
            <a:r>
              <a:t>演示地址：http://localhost:7860  |  代码：github.com/yixi1951/Plant-Hazard-Risk-Assessment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